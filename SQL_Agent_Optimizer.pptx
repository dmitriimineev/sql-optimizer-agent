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11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943600" y="274320"/>
            <a:ext cx="3200400" cy="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43600" y="960120"/>
            <a:ext cx="3200400" cy="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943600" y="1645920"/>
            <a:ext cx="3200400" cy="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943600" y="2331720"/>
            <a:ext cx="3200400" cy="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943600" y="3017520"/>
            <a:ext cx="3200400" cy="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943600" y="3703320"/>
            <a:ext cx="3200400" cy="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943600" y="4389120"/>
            <a:ext cx="3200400" cy="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629400" y="0"/>
            <a:ext cx="0" cy="514350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035040" y="4572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2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2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queries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2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performance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2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 threshold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2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speed DESC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2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100;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548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SYSTEM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1005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365760" y="1783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Агентская система оптимизации SQL-запросов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DeepSeek · n8n · Telegram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1234440" cy="292608"/>
          </a:xfrm>
          <a:prstGeom prst="rect">
            <a:avLst/>
          </a:prstGeom>
          <a:solidFill>
            <a:srgbClr val="16203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UI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3703320"/>
            <a:ext cx="1234440" cy="292608"/>
          </a:xfrm>
          <a:prstGeom prst="rect">
            <a:avLst/>
          </a:prstGeom>
          <a:solidFill>
            <a:srgbClr val="16203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1737360" y="3703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3703320"/>
            <a:ext cx="1234440" cy="292608"/>
          </a:xfrm>
          <a:prstGeom prst="rect">
            <a:avLst/>
          </a:prstGeom>
          <a:solidFill>
            <a:srgbClr val="16203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3108960" y="3703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3703320"/>
            <a:ext cx="1234440" cy="292608"/>
          </a:xfrm>
          <a:prstGeom prst="rect">
            <a:avLst/>
          </a:prstGeom>
          <a:solidFill>
            <a:srgbClr val="162032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480560" y="3703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КУРСОВОЙ ПРОЕКТ</a:t>
            </a:r>
            <a:endParaRPr lang="en-US" sz="11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>
                    <a:lumMod val="75000"/>
                  </a:schemeClr>
                </a:solidFill>
              </a:rPr>
              <a:t>AI </a:t>
            </a:r>
            <a:r>
              <a:rPr lang="ru-RU" sz="1050" dirty="0">
                <a:solidFill>
                  <a:schemeClr val="bg1">
                    <a:lumMod val="75000"/>
                  </a:schemeClr>
                </a:solidFill>
              </a:rPr>
              <a:t>для аналитиков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→ где болит сегодня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 SQL-ревью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20040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9019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эксперта-ревьюера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51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08076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8076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запросов/день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9019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 пропускной способности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24912"/>
            <a:ext cx="8503920" cy="438912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57200" y="27249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SQL-запросы уходят в прод без проверки — роняют производительность БД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255264"/>
            <a:ext cx="8503920" cy="438912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320040" y="3255264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57200" y="325526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Нет единого стандарта: качество ревью зависит от конкретного человека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785616"/>
            <a:ext cx="8503920" cy="438912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320040" y="3785616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57200" y="378561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Senior-разработчик тратит часы на рутину вместо архитектурных задач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315968"/>
            <a:ext cx="8503920" cy="438912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320040" y="4315968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457200" y="43159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Рост нагрузки не масштабируется — люди </a:t>
            </a: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становятся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“bottleneck”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&amp; ЭФФЕКТ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агент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отправляет SQL в Telegram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84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оптимизирует запрос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2004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DeepSeek-Judge оценивает результат (1–10)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209544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2004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сохраняется в Google Sheets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822192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2004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09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получает результат + оценку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эффект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271320"/>
              </p:ext>
            </p:extLst>
          </p:nvPr>
        </p:nvGraphicFramePr>
        <p:xfrm>
          <a:off x="4663440" y="1325880"/>
          <a:ext cx="4206240" cy="223113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Эффект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ревью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мин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сек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Зависимость от эксперта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Запросов в день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Кратное увеличение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/>
          <p:nvPr/>
        </p:nvSpPr>
        <p:spPr>
          <a:xfrm>
            <a:off x="7251192" y="1446862"/>
            <a:ext cx="137160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ТУЛОВ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37160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371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417320" y="132588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пользователя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19888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874520" y="18790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57400" y="1463040"/>
            <a:ext cx="137160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2057400" y="1463040"/>
            <a:ext cx="1371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154680" y="13258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15468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1572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19888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611880" y="18790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94760" y="1463040"/>
            <a:ext cx="137160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794760" y="146304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92040" y="132588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8920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94760" y="1572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19888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349240" y="18790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1463040"/>
            <a:ext cx="137160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5532120" y="1463040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6629400" y="13258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662940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92340" y="159809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51192" y="207815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198882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7086600" y="18790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69480" y="1463040"/>
            <a:ext cx="1371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8366760" y="132588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836676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22976" y="157980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54980" y="209995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юзеру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2834640"/>
            <a:ext cx="8503920" cy="502920"/>
          </a:xfrm>
          <a:prstGeom prst="rect">
            <a:avLst/>
          </a:prstGeom>
          <a:solidFill>
            <a:srgbClr val="162032"/>
          </a:solidFill>
          <a:ln w="1016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320040" y="2834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Orchestrator   —   управляет всей цепочкой вызовов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0040" y="352044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Trigger → n8n webhook запускает агент при получении сообщения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" y="399592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Optimize → переписывает запрос: индексы, JOIN-стратегия,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устраняет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лишние операции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" y="4471416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Review → оценивает до/после, выставляет score 1–10 и объяснение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TELEGRAM-БОТ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3977640"/>
          </a:xfrm>
          <a:prstGeom prst="rect">
            <a:avLst/>
          </a:prstGeom>
          <a:solidFill>
            <a:srgbClr val="0E1621"/>
          </a:solidFill>
          <a:ln w="12700">
            <a:solidFill>
              <a:srgbClr val="2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20040" y="854437"/>
            <a:ext cx="4114800" cy="5029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758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Optimizer Bot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389888"/>
            <a:ext cx="2423160" cy="1060704"/>
          </a:xfrm>
          <a:prstGeom prst="rect">
            <a:avLst/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828800" y="1454950"/>
            <a:ext cx="2423160" cy="92371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</a:p>
          <a:p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financial_transaction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</a:p>
          <a:p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8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dic_financial_transaction_type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</a:p>
          <a:p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</a:t>
            </a:r>
            <a:r>
              <a:rPr lang="en-US" sz="8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t.financial_transaction_type_cd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d.financial_transaction_type_cd</a:t>
            </a:r>
            <a:endParaRPr lang="en-US" sz="800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8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d.financial_transaction_type_desc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</a:t>
            </a:r>
            <a:r>
              <a:rPr lang="ru-RU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Пополнение'</a:t>
            </a:r>
          </a:p>
          <a:p>
            <a:r>
              <a:rPr lang="ru-RU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</a:t>
            </a:r>
            <a:r>
              <a:rPr lang="en-US" sz="8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t.transaction_dt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'2024-01-01';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519875"/>
            <a:ext cx="3474720" cy="2331720"/>
          </a:xfrm>
          <a:prstGeom prst="rect">
            <a:avLst/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291840" cy="2441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900" b="1" dirty="0" err="1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Оптимизированный</a:t>
            </a: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SQL:
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t.transaction_id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t.account_id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t.transaction_dt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t.transaction_amt_rub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t.balance_after_amt_rub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t.financial_transaction_type_cd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ru-RU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d.financial_transaction_type_desc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ru-RU" sz="90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financial_transaction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endParaRPr lang="ru-RU" sz="90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dic_financial_transaction_type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endParaRPr lang="ru-RU" sz="90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t.financial_transaction_type_cd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ru-RU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d.financial_transaction_type_cd</a:t>
            </a:r>
            <a:endParaRPr lang="ru-RU" sz="90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d.financial_transaction_type_desc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‘</a:t>
            </a:r>
            <a:r>
              <a:rPr lang="ru-RU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Пополнение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ru-RU" sz="90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</a:t>
            </a:r>
            <a:r>
              <a:rPr lang="en-US" sz="90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t.transaction_dt</a:t>
            </a: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'2024-01-01';
</a:t>
            </a:r>
            <a:r>
              <a:rPr lang="en-US" sz="900" b="1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Оценка</a:t>
            </a: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b="1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качества</a:t>
            </a: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ru-RU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
</a:t>
            </a:r>
            <a:r>
              <a:rPr lang="ru-RU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Убрано использование 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ru-RU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ru-RU" sz="900" dirty="0">
              <a:solidFill>
                <a:srgbClr val="94A3B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ru-RU" sz="900" dirty="0">
                <a:solidFill>
                  <a:srgbClr val="94A3B8"/>
                </a:solidFill>
                <a:latin typeface="Consolas" pitchFamily="34" charset="0"/>
              </a:rPr>
              <a:t>Сняты баллы за </a:t>
            </a:r>
            <a:r>
              <a:rPr lang="ru-RU" sz="900" dirty="0" err="1">
                <a:solidFill>
                  <a:srgbClr val="94A3B8"/>
                </a:solidFill>
                <a:latin typeface="Consolas" pitchFamily="34" charset="0"/>
              </a:rPr>
              <a:t>за</a:t>
            </a:r>
            <a:r>
              <a:rPr lang="ru-RU" sz="900" dirty="0">
                <a:solidFill>
                  <a:srgbClr val="94A3B8"/>
                </a:solidFill>
                <a:latin typeface="Consolas" pitchFamily="34" charset="0"/>
              </a:rPr>
              <a:t> отсутствие индекса по </a:t>
            </a:r>
            <a:r>
              <a:rPr lang="ru-RU" sz="900" dirty="0" err="1">
                <a:solidFill>
                  <a:srgbClr val="94A3B8"/>
                </a:solidFill>
                <a:latin typeface="Consolas" pitchFamily="34" charset="0"/>
              </a:rPr>
              <a:t>transaction_dt</a:t>
            </a:r>
            <a:r>
              <a:rPr lang="ru-RU" sz="900" dirty="0">
                <a:solidFill>
                  <a:srgbClr val="94A3B8"/>
                </a:solidFill>
                <a:latin typeface="Consolas" pitchFamily="34" charset="0"/>
              </a:rPr>
              <a:t> и JOIN по неиндексированному полю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— Telegram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160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736592" y="1417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444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порог входа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6916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Доступен с мобильного, не нужна регистрация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12264"/>
            <a:ext cx="4160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736592" y="211226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1396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Мгновенный ответ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386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 10–15 секунд вместо 30–60 минут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807208"/>
            <a:ext cx="4160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736592" y="280720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8346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использованию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081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Оптимизированный SQL сразу можно скопировать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502152"/>
            <a:ext cx="4160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736592" y="35021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3529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оценка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7764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1–10 и пояснение — как у senior-ревьюера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197096"/>
            <a:ext cx="4160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736592" y="419709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4224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настройки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4471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 написать боту — всё остальное за агентом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+ мониторинг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— журнал запросов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483720"/>
              </p:ext>
            </p:extLst>
          </p:nvPr>
        </p:nvGraphicFramePr>
        <p:xfrm>
          <a:off x="320040" y="1232329"/>
          <a:ext cx="8503920" cy="2449539"/>
        </p:xfrm>
        <a:graphic>
          <a:graphicData uri="http://schemas.openxmlformats.org/drawingml/2006/table">
            <a:tbl>
              <a:tblPr/>
              <a:tblGrid>
                <a:gridCol w="1026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3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26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157">
                  <a:extLst>
                    <a:ext uri="{9D8B030D-6E8A-4147-A177-3AD203B41FA5}">
                      <a16:colId xmlns:a16="http://schemas.microsoft.com/office/drawing/2014/main" val="2321180273"/>
                    </a:ext>
                  </a:extLst>
                </a:gridCol>
              </a:tblGrid>
              <a:tr h="4026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Judge_Valid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Judge_Score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5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2026-04-12T20:16:33.898+03:00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836818590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*from 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financial_account_statuswhere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account_id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"```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SELECT * FROM 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financial_account_status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WHERE 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account_id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1001 ORDER BY 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valid_from_dt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DESC; ``` **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Оптимизация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:**</a:t>
                      </a:r>
                      <a:b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ru-RU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 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‘ORDER BY </a:t>
                      </a: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valid_from_dt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DESC’ </a:t>
                      </a:r>
                      <a:r>
                        <a:rPr lang="ru-RU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получения актуальной версии статуса счета первой строкой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7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2026-04-12T20:12:58.311+03:00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836818590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select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client_id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first_name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last_namefrom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clientwhere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phone_number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= '+79991234567';"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```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sql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SELECT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client_id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first_name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last_name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FROM client WHERE 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phone_number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= '+79991234567'; ```  **</a:t>
                      </a:r>
                      <a:r>
                        <a:rPr lang="ru-RU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Оптимизация:** 1. Запрос уже оптимален, так как использует простой фильтр по полю `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phone_number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` 2. </a:t>
                      </a:r>
                      <a:r>
                        <a:rPr lang="ru-RU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В таблице `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client` </a:t>
                      </a:r>
                      <a:r>
                        <a:rPr lang="ru-RU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уже есть уникальный индекс на поле `</a:t>
                      </a:r>
                      <a:r>
                        <a:rPr lang="en-US" sz="1000" dirty="0" err="1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phone_number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`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E2E8F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20040" y="3840480"/>
            <a:ext cx="2651760" cy="112565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320040" y="3781162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365760" y="384329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фиксируется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331089"/>
            <a:ext cx="2468880" cy="600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до и после оптимизации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качества (0–10)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пользователь(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ID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3843294"/>
            <a:ext cx="2651760" cy="11228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3200400" y="3769908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3291840" y="3854665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Онлайн-мониторинг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4331088"/>
            <a:ext cx="2468880" cy="60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Средний score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запросов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запросов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плохих запросов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3843293"/>
            <a:ext cx="2651760" cy="1094935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6080760" y="3766156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172200" y="3857479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Бизнес-метрики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4331089"/>
            <a:ext cx="2468880" cy="56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Кол-во ревью vs ручных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КАЧЕСТВА — SQL Review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0D5C69-D396-9FA4-E7AB-37FE600EDCCD}"/>
              </a:ext>
            </a:extLst>
          </p:cNvPr>
          <p:cNvSpPr txBox="1"/>
          <p:nvPr/>
        </p:nvSpPr>
        <p:spPr>
          <a:xfrm>
            <a:off x="492369" y="942535"/>
            <a:ext cx="8363243" cy="369332"/>
          </a:xfrm>
          <a:prstGeom prst="rect">
            <a:avLst/>
          </a:prstGeom>
          <a:noFill/>
          <a:ln>
            <a:solidFill>
              <a:srgbClr val="1E293B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Мы оцениваем оптимизацию SQL по 10 критериям: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3B19B3-A2FC-25EA-675B-D043607671CE}"/>
              </a:ext>
            </a:extLst>
          </p:cNvPr>
          <p:cNvSpPr txBox="1"/>
          <p:nvPr/>
        </p:nvSpPr>
        <p:spPr>
          <a:xfrm>
            <a:off x="492370" y="1359317"/>
            <a:ext cx="3988190" cy="3016210"/>
          </a:xfrm>
          <a:prstGeom prst="rect">
            <a:avLst/>
          </a:prstGeom>
          <a:noFill/>
          <a:ln>
            <a:solidFill>
              <a:srgbClr val="1E293B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1000" b="1" dirty="0">
                <a:solidFill>
                  <a:schemeClr val="bg2"/>
                </a:solidFill>
              </a:rPr>
              <a:t>1. Индексы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Используется ли индекс при поиске по:</a:t>
            </a:r>
            <a:br>
              <a:rPr lang="ru-RU" sz="1000" dirty="0">
                <a:solidFill>
                  <a:schemeClr val="bg2"/>
                </a:solidFill>
              </a:rPr>
            </a:b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client_id</a:t>
            </a:r>
            <a:r>
              <a:rPr lang="en-US" sz="1000" dirty="0">
                <a:solidFill>
                  <a:schemeClr val="bg2"/>
                </a:solidFill>
                <a:latin typeface="Courier New" panose="02070309020205020404" pitchFamily="49" charset="0"/>
              </a:rPr>
              <a:t> / email / phone / passport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ru-RU" sz="1000" dirty="0">
              <a:solidFill>
                <a:schemeClr val="bg2"/>
              </a:solidFill>
            </a:endParaRPr>
          </a:p>
          <a:p>
            <a:endParaRPr lang="en-US" sz="1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n-US" sz="1000" b="1" dirty="0">
                <a:solidFill>
                  <a:schemeClr val="bg2"/>
                </a:solidFill>
              </a:rPr>
              <a:t>2. </a:t>
            </a:r>
            <a:r>
              <a:rPr lang="ru-RU" sz="1000" b="1" dirty="0">
                <a:solidFill>
                  <a:schemeClr val="bg2"/>
                </a:solidFill>
              </a:rPr>
              <a:t>Актуальность записей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При работе с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financial_account_status</a:t>
            </a:r>
            <a:r>
              <a:rPr lang="ru-RU" sz="1000" dirty="0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  <a:r>
              <a:rPr lang="ru-RU" sz="1000" dirty="0">
                <a:solidFill>
                  <a:schemeClr val="bg2"/>
                </a:solidFill>
              </a:rPr>
              <a:t>есть ли фильтр</a:t>
            </a:r>
            <a:br>
              <a:rPr lang="ru-RU" sz="1000" dirty="0">
                <a:solidFill>
                  <a:schemeClr val="bg2"/>
                </a:solidFill>
              </a:rPr>
            </a:b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valid_to_dt</a:t>
            </a:r>
            <a:r>
              <a:rPr lang="en-US" sz="1000" dirty="0">
                <a:solidFill>
                  <a:schemeClr val="bg2"/>
                </a:solidFill>
                <a:latin typeface="Courier New" panose="02070309020205020404" pitchFamily="49" charset="0"/>
              </a:rPr>
              <a:t> = '5999-01-01’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ru-RU" sz="1000" dirty="0">
              <a:solidFill>
                <a:schemeClr val="bg2"/>
              </a:solidFill>
            </a:endParaRPr>
          </a:p>
          <a:p>
            <a:endParaRPr lang="en-US" sz="1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n-US" sz="1000" b="1" dirty="0">
                <a:solidFill>
                  <a:schemeClr val="bg2"/>
                </a:solidFill>
              </a:rPr>
              <a:t>3. </a:t>
            </a:r>
            <a:r>
              <a:rPr lang="ru-RU" sz="1000" b="1" dirty="0">
                <a:solidFill>
                  <a:schemeClr val="bg2"/>
                </a:solidFill>
              </a:rPr>
              <a:t>Агрегации по транзакциям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Используются ли индексы: </a:t>
            </a:r>
          </a:p>
          <a:p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transaction_dt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r>
              <a:rPr lang="ru-RU" sz="1000" dirty="0">
                <a:solidFill>
                  <a:schemeClr val="bg2"/>
                </a:solidFill>
              </a:rPr>
              <a:t> или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account_id</a:t>
            </a:r>
            <a:r>
              <a:rPr lang="en-US" sz="1000" dirty="0">
                <a:solidFill>
                  <a:schemeClr val="bg2"/>
                </a:solidFill>
                <a:latin typeface="Courier New" panose="02070309020205020404" pitchFamily="49" charset="0"/>
              </a:rPr>
              <a:t> +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transaction_dt</a:t>
            </a:r>
            <a:endParaRPr lang="ru-RU" sz="1000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2"/>
                </a:solidFill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chemeClr val="bg2"/>
                </a:solidFill>
              </a:rPr>
              <a:t>4. JOIN-</a:t>
            </a:r>
            <a:r>
              <a:rPr lang="ru-RU" sz="1000" b="1" dirty="0">
                <a:solidFill>
                  <a:schemeClr val="bg2"/>
                </a:solidFill>
              </a:rPr>
              <a:t>операции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Выполняются ли </a:t>
            </a:r>
            <a:r>
              <a:rPr lang="en-US" sz="1000" dirty="0">
                <a:solidFill>
                  <a:schemeClr val="bg2"/>
                </a:solidFill>
              </a:rPr>
              <a:t>JOIN </a:t>
            </a:r>
            <a:r>
              <a:rPr lang="ru-RU" sz="1000" dirty="0">
                <a:solidFill>
                  <a:schemeClr val="bg2"/>
                </a:solidFill>
              </a:rPr>
              <a:t>по индексированным ключам: </a:t>
            </a:r>
          </a:p>
          <a:p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client_id</a:t>
            </a:r>
            <a:r>
              <a:rPr lang="en-US" sz="1000" dirty="0">
                <a:solidFill>
                  <a:schemeClr val="bg2"/>
                </a:solidFill>
              </a:rPr>
              <a:t>,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account_id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ru-RU" sz="1000" dirty="0">
              <a:solidFill>
                <a:schemeClr val="bg2"/>
              </a:solidFill>
            </a:endParaRPr>
          </a:p>
          <a:p>
            <a:endParaRPr lang="en-US" sz="1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n-US" sz="1000" b="1" dirty="0">
                <a:solidFill>
                  <a:schemeClr val="bg2"/>
                </a:solidFill>
              </a:rPr>
              <a:t>5. </a:t>
            </a:r>
            <a:r>
              <a:rPr lang="ru-RU" sz="1000" b="1" dirty="0">
                <a:solidFill>
                  <a:schemeClr val="bg2"/>
                </a:solidFill>
              </a:rPr>
              <a:t>Фильтрация по типам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Используются ли </a:t>
            </a:r>
            <a:r>
              <a:rPr lang="ru-RU" sz="1000" b="1" dirty="0">
                <a:solidFill>
                  <a:schemeClr val="bg2"/>
                </a:solidFill>
              </a:rPr>
              <a:t>прямые коды (</a:t>
            </a:r>
            <a:r>
              <a:rPr lang="en-US" sz="1000" b="1" dirty="0">
                <a:solidFill>
                  <a:schemeClr val="bg2"/>
                </a:solidFill>
              </a:rPr>
              <a:t>DEP, PAY)</a:t>
            </a:r>
            <a:br>
              <a:rPr lang="en-US" sz="1000" dirty="0">
                <a:solidFill>
                  <a:schemeClr val="bg2"/>
                </a:solidFill>
              </a:rPr>
            </a:br>
            <a:r>
              <a:rPr lang="ru-RU" sz="1000" dirty="0">
                <a:solidFill>
                  <a:schemeClr val="bg2"/>
                </a:solidFill>
              </a:rPr>
              <a:t>вместо </a:t>
            </a:r>
            <a:r>
              <a:rPr lang="en-US" sz="1000" dirty="0">
                <a:solidFill>
                  <a:schemeClr val="bg2"/>
                </a:solidFill>
              </a:rPr>
              <a:t>JOIN </a:t>
            </a:r>
            <a:r>
              <a:rPr lang="ru-RU" sz="1000" dirty="0">
                <a:solidFill>
                  <a:schemeClr val="bg2"/>
                </a:solidFill>
              </a:rPr>
              <a:t>со справочниками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0F9866-3EDC-41C0-902B-BE8E5A94D50E}"/>
              </a:ext>
            </a:extLst>
          </p:cNvPr>
          <p:cNvSpPr txBox="1"/>
          <p:nvPr/>
        </p:nvSpPr>
        <p:spPr>
          <a:xfrm>
            <a:off x="4572001" y="1359317"/>
            <a:ext cx="4283612" cy="2708434"/>
          </a:xfrm>
          <a:prstGeom prst="rect">
            <a:avLst/>
          </a:prstGeom>
          <a:noFill/>
          <a:ln>
            <a:solidFill>
              <a:srgbClr val="1E293B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1000" b="1" dirty="0">
                <a:solidFill>
                  <a:schemeClr val="bg2"/>
                </a:solidFill>
              </a:rPr>
              <a:t>6. Оконные функции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Корректный </a:t>
            </a:r>
            <a:r>
              <a:rPr lang="en-US" sz="1000" dirty="0">
                <a:solidFill>
                  <a:schemeClr val="bg2"/>
                </a:solidFill>
                <a:latin typeface="Courier New" panose="02070309020205020404" pitchFamily="49" charset="0"/>
              </a:rPr>
              <a:t>PARTITION BY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account_id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r>
              <a:rPr lang="ru-RU" sz="1000" dirty="0">
                <a:solidFill>
                  <a:schemeClr val="bg2"/>
                </a:solidFill>
              </a:rPr>
              <a:t>и есть </a:t>
            </a:r>
            <a:r>
              <a:rPr lang="en-US" sz="1000" dirty="0">
                <a:solidFill>
                  <a:schemeClr val="bg2"/>
                </a:solidFill>
                <a:latin typeface="Courier New" panose="02070309020205020404" pitchFamily="49" charset="0"/>
              </a:rPr>
              <a:t>ORDER BY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r>
              <a:rPr lang="ru-RU" sz="1000" dirty="0">
                <a:solidFill>
                  <a:schemeClr val="bg2"/>
                </a:solidFill>
              </a:rPr>
              <a:t>по индексированному полю </a:t>
            </a:r>
          </a:p>
          <a:p>
            <a:endParaRPr lang="ru-RU" sz="1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ru-RU" sz="1000" b="1" dirty="0">
                <a:solidFill>
                  <a:schemeClr val="bg2"/>
                </a:solidFill>
              </a:rPr>
              <a:t>7. Фильтрация по датам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Используются ли индексы по: 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transaction_dt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r>
              <a:rPr lang="ru-RU" sz="1000" dirty="0">
                <a:solidFill>
                  <a:schemeClr val="bg2"/>
                </a:solidFill>
              </a:rPr>
              <a:t> или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open_dt</a:t>
            </a:r>
            <a:endParaRPr lang="ru-RU" sz="1000" dirty="0">
              <a:solidFill>
                <a:schemeClr val="bg2"/>
              </a:solidFill>
            </a:endParaRPr>
          </a:p>
          <a:p>
            <a:r>
              <a:rPr lang="ru-RU" sz="1000" dirty="0">
                <a:solidFill>
                  <a:schemeClr val="bg2"/>
                </a:solidFill>
              </a:rPr>
              <a:t> </a:t>
            </a:r>
          </a:p>
          <a:p>
            <a:pPr>
              <a:buNone/>
            </a:pPr>
            <a:r>
              <a:rPr lang="ru-RU" sz="1000" b="1" dirty="0">
                <a:solidFill>
                  <a:schemeClr val="bg2"/>
                </a:solidFill>
              </a:rPr>
              <a:t>8. </a:t>
            </a:r>
            <a:r>
              <a:rPr lang="ru-RU" sz="1000" b="1" dirty="0" err="1">
                <a:solidFill>
                  <a:schemeClr val="bg2"/>
                </a:solidFill>
              </a:rPr>
              <a:t>Антипаттерны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 Не должно быть  расчёта баланса через </a:t>
            </a:r>
            <a:r>
              <a:rPr lang="en-US" sz="1000" dirty="0">
                <a:solidFill>
                  <a:schemeClr val="bg2"/>
                </a:solidFill>
              </a:rPr>
              <a:t>SUM(transactions) </a:t>
            </a:r>
            <a:r>
              <a:rPr lang="ru-RU" sz="1000" dirty="0">
                <a:solidFill>
                  <a:schemeClr val="bg2"/>
                </a:solidFill>
              </a:rPr>
              <a:t>вместо </a:t>
            </a:r>
            <a:r>
              <a:rPr lang="en-US" sz="1000" dirty="0" err="1">
                <a:solidFill>
                  <a:schemeClr val="bg2"/>
                </a:solidFill>
                <a:latin typeface="Courier New" panose="02070309020205020404" pitchFamily="49" charset="0"/>
              </a:rPr>
              <a:t>balance_after_amt_rub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ru-RU" sz="1000" dirty="0">
              <a:solidFill>
                <a:schemeClr val="bg2"/>
              </a:solidFill>
            </a:endParaRPr>
          </a:p>
          <a:p>
            <a:endParaRPr lang="en-US" sz="1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n-US" sz="1000" b="1" dirty="0">
                <a:solidFill>
                  <a:schemeClr val="bg2"/>
                </a:solidFill>
              </a:rPr>
              <a:t>9. </a:t>
            </a:r>
            <a:r>
              <a:rPr lang="ru-RU" sz="1000" b="1" dirty="0">
                <a:solidFill>
                  <a:schemeClr val="bg2"/>
                </a:solidFill>
              </a:rPr>
              <a:t>Параметризация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Используются ли </a:t>
            </a:r>
            <a:r>
              <a:rPr lang="ru-RU" sz="1000" dirty="0" err="1">
                <a:solidFill>
                  <a:schemeClr val="bg2"/>
                </a:solidFill>
              </a:rPr>
              <a:t>плейсхолдеры</a:t>
            </a:r>
            <a:r>
              <a:rPr lang="ru-RU" sz="1000" dirty="0">
                <a:solidFill>
                  <a:schemeClr val="bg2"/>
                </a:solidFill>
              </a:rPr>
              <a:t> </a:t>
            </a:r>
            <a:r>
              <a:rPr lang="ru-RU" sz="1000" dirty="0">
                <a:solidFill>
                  <a:schemeClr val="bg2"/>
                </a:solidFill>
                <a:latin typeface="Courier New" panose="02070309020205020404" pitchFamily="49" charset="0"/>
              </a:rPr>
              <a:t>$1,$2</a:t>
            </a:r>
            <a:r>
              <a:rPr lang="ru-RU" sz="1000" dirty="0">
                <a:solidFill>
                  <a:schemeClr val="bg2"/>
                </a:solidFill>
              </a:rPr>
              <a:t> вместо литералов </a:t>
            </a:r>
          </a:p>
          <a:p>
            <a:endParaRPr lang="ru-RU" sz="1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ru-RU" sz="1000" b="1" dirty="0">
                <a:solidFill>
                  <a:schemeClr val="bg2"/>
                </a:solidFill>
              </a:rPr>
              <a:t>10. План выполнения</a:t>
            </a:r>
            <a:endParaRPr lang="ru-RU" sz="10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Есть ли </a:t>
            </a:r>
            <a:r>
              <a:rPr lang="en-US" sz="1000" dirty="0">
                <a:solidFill>
                  <a:schemeClr val="bg2"/>
                </a:solidFill>
                <a:latin typeface="Courier New" panose="02070309020205020404" pitchFamily="49" charset="0"/>
              </a:rPr>
              <a:t>EXPLAIN (ANALYZE, BUFFERS)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2"/>
                </a:solidFill>
              </a:rPr>
              <a:t>Нет </a:t>
            </a:r>
            <a:r>
              <a:rPr lang="en-US" sz="1000" dirty="0">
                <a:solidFill>
                  <a:schemeClr val="bg2"/>
                </a:solidFill>
                <a:latin typeface="Courier New" panose="02070309020205020404" pitchFamily="49" charset="0"/>
              </a:rPr>
              <a:t>Seq Scan</a:t>
            </a:r>
            <a:r>
              <a:rPr lang="en-US" sz="1000" dirty="0">
                <a:solidFill>
                  <a:schemeClr val="bg2"/>
                </a:solidFill>
              </a:rPr>
              <a:t> </a:t>
            </a:r>
            <a:r>
              <a:rPr lang="ru-RU" sz="1000" dirty="0">
                <a:solidFill>
                  <a:schemeClr val="bg2"/>
                </a:solidFill>
              </a:rPr>
              <a:t>на больших таблицах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138D14-9D37-9153-50E6-3D4B2CBC1FEF}"/>
              </a:ext>
            </a:extLst>
          </p:cNvPr>
          <p:cNvSpPr txBox="1"/>
          <p:nvPr/>
        </p:nvSpPr>
        <p:spPr>
          <a:xfrm>
            <a:off x="548640" y="4422978"/>
            <a:ext cx="5887329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Формула итоговой оценки:</a:t>
            </a:r>
            <a:br>
              <a:rPr lang="ru-RU" dirty="0">
                <a:solidFill>
                  <a:schemeClr val="bg2"/>
                </a:solidFill>
              </a:rPr>
            </a:br>
            <a:r>
              <a:rPr lang="ru-RU" dirty="0">
                <a:solidFill>
                  <a:schemeClr val="bg2"/>
                </a:solidFill>
              </a:rPr>
              <a:t>Сумма по всем 10 критериям * </a:t>
            </a:r>
            <a:r>
              <a:rPr lang="en-US" dirty="0" err="1">
                <a:solidFill>
                  <a:schemeClr val="bg2"/>
                </a:solidFill>
              </a:rPr>
              <a:t>valid_sql_flag</a:t>
            </a:r>
            <a:endParaRPr lang="ru-RU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&amp; СЛЕДУЮЩИЕ ШАГИ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сделано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2336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6576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Работающий Telegram-бот с мгновенным ответом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402336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36576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38912" y="187452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инструментов в агентской цепочке n8n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02336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36576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38912" y="23774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с оценкой 1–10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02336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36576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38912" y="288036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в Google Sheets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402336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36576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38912" y="338328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Оффлайн-бенчмарк, выбор лучшего промпта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0" cy="3931920"/>
          </a:xfrm>
          <a:prstGeom prst="line">
            <a:avLst/>
          </a:prstGeom>
          <a:noFill/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75488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Следующие шаги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846320" y="1389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Алерты</a:t>
            </a:r>
            <a:r>
              <a:rPr lang="ru-RU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переделывание плохих запросов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1591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агент ставит плохую оценку, то бот может запросить ручное ревью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38528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846320" y="1956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Еженедельный отчет в Телеграм с метриками качества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мониторинг стабильности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72384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846320" y="30906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тест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291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vs DeepSeek по качеству и цене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499477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4846320" y="250369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271119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с историей запросов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1054</Words>
  <Application>Microsoft Office PowerPoint</Application>
  <PresentationFormat>Экран (16:9)</PresentationFormat>
  <Paragraphs>219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Agent Optimizer</dc:title>
  <dc:subject>PptxGenJS Presentation</dc:subject>
  <dc:creator>PptxGenJS</dc:creator>
  <cp:lastModifiedBy>Егор Глухих</cp:lastModifiedBy>
  <cp:revision>10</cp:revision>
  <dcterms:created xsi:type="dcterms:W3CDTF">2026-04-12T09:38:59Z</dcterms:created>
  <dcterms:modified xsi:type="dcterms:W3CDTF">2026-04-15T20:24:11Z</dcterms:modified>
</cp:coreProperties>
</file>